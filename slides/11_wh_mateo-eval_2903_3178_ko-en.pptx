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979" r:id="rId3"/>
    <p:sldId id="980" r:id="rId4"/>
    <p:sldId id="981" r:id="rId5"/>
    <p:sldId id="98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5460" autoAdjust="0"/>
  </p:normalViewPr>
  <p:slideViewPr>
    <p:cSldViewPr snapToGrid="0" snapToObjects="1">
      <p:cViewPr varScale="1">
        <p:scale>
          <a:sx n="51" d="100"/>
          <a:sy n="51" d="100"/>
        </p:scale>
        <p:origin x="1104" y="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illi\Documents\PHIL8400\holden_william_local-llms\3_wh_mateo-eval-chart_2903-3178_ko-e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illi\Documents\PHIL8400\holden_william_local-llms\4_wh_mateo-eval-plot_2903-3178_ko-e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0" i="0" baseline="0" dirty="0">
                <a:effectLst/>
              </a:rPr>
              <a:t>wh_mateo-eval_2903_3178_ko-en</a:t>
            </a:r>
            <a:endParaRPr lang="en-US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deepseek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comet</c:v>
                </c:pt>
                <c:pt idx="1">
                  <c:v>BLEU</c:v>
                </c:pt>
                <c:pt idx="2">
                  <c:v>chrF2</c:v>
                </c:pt>
                <c:pt idx="3">
                  <c:v>TER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91.28</c:v>
                </c:pt>
                <c:pt idx="1">
                  <c:v>58.38</c:v>
                </c:pt>
                <c:pt idx="2">
                  <c:v>76.58</c:v>
                </c:pt>
                <c:pt idx="3">
                  <c:v>34.36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DC-4800-9622-4DF87D5B0374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 claude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comet</c:v>
                </c:pt>
                <c:pt idx="1">
                  <c:v>BLEU</c:v>
                </c:pt>
                <c:pt idx="2">
                  <c:v>chrF2</c:v>
                </c:pt>
                <c:pt idx="3">
                  <c:v>TER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90.79</c:v>
                </c:pt>
                <c:pt idx="1">
                  <c:v>54.89</c:v>
                </c:pt>
                <c:pt idx="2">
                  <c:v>74.459999999999994</c:v>
                </c:pt>
                <c:pt idx="3">
                  <c:v>37.020000000000003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DC-4800-9622-4DF87D5B0374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gpt-oss_120b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comet</c:v>
                </c:pt>
                <c:pt idx="1">
                  <c:v>BLEU</c:v>
                </c:pt>
                <c:pt idx="2">
                  <c:v>chrF2</c:v>
                </c:pt>
                <c:pt idx="3">
                  <c:v>TER</c:v>
                </c:pt>
              </c:strCache>
            </c:strRef>
          </c:cat>
          <c:val>
            <c:numRef>
              <c:f>Sheet1!$B$4:$E$4</c:f>
              <c:numCache>
                <c:formatCode>General</c:formatCode>
                <c:ptCount val="4"/>
                <c:pt idx="0">
                  <c:v>90.37</c:v>
                </c:pt>
                <c:pt idx="1">
                  <c:v>47.8</c:v>
                </c:pt>
                <c:pt idx="2">
                  <c:v>71.3</c:v>
                </c:pt>
                <c:pt idx="3">
                  <c:v>43.9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DC-4800-9622-4DF87D5B0374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gpt-oss_20b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comet</c:v>
                </c:pt>
                <c:pt idx="1">
                  <c:v>BLEU</c:v>
                </c:pt>
                <c:pt idx="2">
                  <c:v>chrF2</c:v>
                </c:pt>
                <c:pt idx="3">
                  <c:v>TER</c:v>
                </c:pt>
              </c:strCache>
            </c:strRef>
          </c:cat>
          <c:val>
            <c:numRef>
              <c:f>Sheet1!$B$5:$E$5</c:f>
              <c:numCache>
                <c:formatCode>General</c:formatCode>
                <c:ptCount val="4"/>
                <c:pt idx="0">
                  <c:v>90.31</c:v>
                </c:pt>
                <c:pt idx="1">
                  <c:v>47.19</c:v>
                </c:pt>
                <c:pt idx="2">
                  <c:v>71.239999999999995</c:v>
                </c:pt>
                <c:pt idx="3">
                  <c:v>44.98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3DC-4800-9622-4DF87D5B0374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 gpt5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comet</c:v>
                </c:pt>
                <c:pt idx="1">
                  <c:v>BLEU</c:v>
                </c:pt>
                <c:pt idx="2">
                  <c:v>chrF2</c:v>
                </c:pt>
                <c:pt idx="3">
                  <c:v>TER</c:v>
                </c:pt>
              </c:strCache>
            </c:strRef>
          </c:cat>
          <c:val>
            <c:numRef>
              <c:f>Sheet1!$B$6:$E$6</c:f>
              <c:numCache>
                <c:formatCode>General</c:formatCode>
                <c:ptCount val="4"/>
                <c:pt idx="0">
                  <c:v>90.31</c:v>
                </c:pt>
                <c:pt idx="1">
                  <c:v>50.44</c:v>
                </c:pt>
                <c:pt idx="2">
                  <c:v>72.5</c:v>
                </c:pt>
                <c:pt idx="3">
                  <c:v>39.04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3DC-4800-9622-4DF87D5B0374}"/>
            </c:ext>
          </c:extLst>
        </c:ser>
        <c:ser>
          <c:idx val="5"/>
          <c:order val="5"/>
          <c:tx>
            <c:strRef>
              <c:f>Sheet1!$A$7</c:f>
              <c:strCache>
                <c:ptCount val="1"/>
                <c:pt idx="0">
                  <c:v>gemma3_27b-it-fp16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comet</c:v>
                </c:pt>
                <c:pt idx="1">
                  <c:v>BLEU</c:v>
                </c:pt>
                <c:pt idx="2">
                  <c:v>chrF2</c:v>
                </c:pt>
                <c:pt idx="3">
                  <c:v>TER</c:v>
                </c:pt>
              </c:strCache>
            </c:strRef>
          </c:cat>
          <c:val>
            <c:numRef>
              <c:f>Sheet1!$B$7:$E$7</c:f>
              <c:numCache>
                <c:formatCode>General</c:formatCode>
                <c:ptCount val="4"/>
                <c:pt idx="0">
                  <c:v>90.3</c:v>
                </c:pt>
                <c:pt idx="1">
                  <c:v>49.12</c:v>
                </c:pt>
                <c:pt idx="2">
                  <c:v>72.040000000000006</c:v>
                </c:pt>
                <c:pt idx="3">
                  <c:v>44.61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3DC-4800-9622-4DF87D5B0374}"/>
            </c:ext>
          </c:extLst>
        </c:ser>
        <c:ser>
          <c:idx val="6"/>
          <c:order val="6"/>
          <c:tx>
            <c:strRef>
              <c:f>Sheet1!$A$8</c:f>
              <c:strCache>
                <c:ptCount val="1"/>
                <c:pt idx="0">
                  <c:v>google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comet</c:v>
                </c:pt>
                <c:pt idx="1">
                  <c:v>BLEU</c:v>
                </c:pt>
                <c:pt idx="2">
                  <c:v>chrF2</c:v>
                </c:pt>
                <c:pt idx="3">
                  <c:v>TER</c:v>
                </c:pt>
              </c:strCache>
            </c:strRef>
          </c:cat>
          <c:val>
            <c:numRef>
              <c:f>Sheet1!$B$8:$E$8</c:f>
              <c:numCache>
                <c:formatCode>General</c:formatCode>
                <c:ptCount val="4"/>
                <c:pt idx="0">
                  <c:v>90.24</c:v>
                </c:pt>
                <c:pt idx="1">
                  <c:v>52.88</c:v>
                </c:pt>
                <c:pt idx="2">
                  <c:v>72.38</c:v>
                </c:pt>
                <c:pt idx="3">
                  <c:v>39.700000000000003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3DC-4800-9622-4DF87D5B0374}"/>
            </c:ext>
          </c:extLst>
        </c:ser>
        <c:ser>
          <c:idx val="7"/>
          <c:order val="7"/>
          <c:tx>
            <c:strRef>
              <c:f>Sheet1!$A$9</c:f>
              <c:strCache>
                <c:ptCount val="1"/>
                <c:pt idx="0">
                  <c:v>llama3.3_70b-instruct-fp16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comet</c:v>
                </c:pt>
                <c:pt idx="1">
                  <c:v>BLEU</c:v>
                </c:pt>
                <c:pt idx="2">
                  <c:v>chrF2</c:v>
                </c:pt>
                <c:pt idx="3">
                  <c:v>TER</c:v>
                </c:pt>
              </c:strCache>
            </c:strRef>
          </c:cat>
          <c:val>
            <c:numRef>
              <c:f>Sheet1!$B$9:$E$9</c:f>
              <c:numCache>
                <c:formatCode>General</c:formatCode>
                <c:ptCount val="4"/>
                <c:pt idx="0">
                  <c:v>89.92</c:v>
                </c:pt>
                <c:pt idx="1">
                  <c:v>46.18</c:v>
                </c:pt>
                <c:pt idx="2">
                  <c:v>70.099999999999994</c:v>
                </c:pt>
                <c:pt idx="3">
                  <c:v>47.84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3DC-4800-9622-4DF87D5B0374}"/>
            </c:ext>
          </c:extLst>
        </c:ser>
        <c:ser>
          <c:idx val="8"/>
          <c:order val="8"/>
          <c:tx>
            <c:strRef>
              <c:f>Sheet1!$A$10</c:f>
              <c:strCache>
                <c:ptCount val="1"/>
                <c:pt idx="0">
                  <c:v> qwen3_8b-fp16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comet</c:v>
                </c:pt>
                <c:pt idx="1">
                  <c:v>BLEU</c:v>
                </c:pt>
                <c:pt idx="2">
                  <c:v>chrF2</c:v>
                </c:pt>
                <c:pt idx="3">
                  <c:v>TER</c:v>
                </c:pt>
              </c:strCache>
            </c:strRef>
          </c:cat>
          <c:val>
            <c:numRef>
              <c:f>Sheet1!$B$10:$E$10</c:f>
              <c:numCache>
                <c:formatCode>General</c:formatCode>
                <c:ptCount val="4"/>
                <c:pt idx="0">
                  <c:v>89.87</c:v>
                </c:pt>
                <c:pt idx="1">
                  <c:v>45.55</c:v>
                </c:pt>
                <c:pt idx="2">
                  <c:v>70.03</c:v>
                </c:pt>
                <c:pt idx="3">
                  <c:v>47.13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3DC-4800-9622-4DF87D5B0374}"/>
            </c:ext>
          </c:extLst>
        </c:ser>
        <c:ser>
          <c:idx val="9"/>
          <c:order val="9"/>
          <c:tx>
            <c:strRef>
              <c:f>Sheet1!$A$11</c:f>
              <c:strCache>
                <c:ptCount val="1"/>
                <c:pt idx="0">
                  <c:v>aya_35b-23-q8_0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comet</c:v>
                </c:pt>
                <c:pt idx="1">
                  <c:v>BLEU</c:v>
                </c:pt>
                <c:pt idx="2">
                  <c:v>chrF2</c:v>
                </c:pt>
                <c:pt idx="3">
                  <c:v>TER</c:v>
                </c:pt>
              </c:strCache>
            </c:strRef>
          </c:cat>
          <c:val>
            <c:numRef>
              <c:f>Sheet1!$B$11:$E$11</c:f>
              <c:numCache>
                <c:formatCode>General</c:formatCode>
                <c:ptCount val="4"/>
                <c:pt idx="0">
                  <c:v>89.14</c:v>
                </c:pt>
                <c:pt idx="1">
                  <c:v>43.99</c:v>
                </c:pt>
                <c:pt idx="2">
                  <c:v>67.58</c:v>
                </c:pt>
                <c:pt idx="3">
                  <c:v>51.24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3DC-4800-9622-4DF87D5B0374}"/>
            </c:ext>
          </c:extLst>
        </c:ser>
        <c:ser>
          <c:idx val="10"/>
          <c:order val="10"/>
          <c:tx>
            <c:strRef>
              <c:f>Sheet1!$A$12</c:f>
              <c:strCache>
                <c:ptCount val="1"/>
                <c:pt idx="0">
                  <c:v>modernmt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comet</c:v>
                </c:pt>
                <c:pt idx="1">
                  <c:v>BLEU</c:v>
                </c:pt>
                <c:pt idx="2">
                  <c:v>chrF2</c:v>
                </c:pt>
                <c:pt idx="3">
                  <c:v>TER</c:v>
                </c:pt>
              </c:strCache>
            </c:strRef>
          </c:cat>
          <c:val>
            <c:numRef>
              <c:f>Sheet1!$B$12:$E$12</c:f>
              <c:numCache>
                <c:formatCode>General</c:formatCode>
                <c:ptCount val="4"/>
                <c:pt idx="0">
                  <c:v>87.9</c:v>
                </c:pt>
                <c:pt idx="1">
                  <c:v>39.15</c:v>
                </c:pt>
                <c:pt idx="2">
                  <c:v>63.29</c:v>
                </c:pt>
                <c:pt idx="3">
                  <c:v>54.61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3DC-4800-9622-4DF87D5B0374}"/>
            </c:ext>
          </c:extLst>
        </c:ser>
        <c:ser>
          <c:idx val="11"/>
          <c:order val="11"/>
          <c:tx>
            <c:strRef>
              <c:f>Sheet1!$A$13</c:f>
              <c:strCache>
                <c:ptCount val="1"/>
                <c:pt idx="0">
                  <c:v>llama3.1_8b-instruct-fp16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comet</c:v>
                </c:pt>
                <c:pt idx="1">
                  <c:v>BLEU</c:v>
                </c:pt>
                <c:pt idx="2">
                  <c:v>chrF2</c:v>
                </c:pt>
                <c:pt idx="3">
                  <c:v>TER</c:v>
                </c:pt>
              </c:strCache>
            </c:strRef>
          </c:cat>
          <c:val>
            <c:numRef>
              <c:f>Sheet1!$B$13:$E$13</c:f>
              <c:numCache>
                <c:formatCode>General</c:formatCode>
                <c:ptCount val="4"/>
                <c:pt idx="0">
                  <c:v>87.62</c:v>
                </c:pt>
                <c:pt idx="1">
                  <c:v>37.5</c:v>
                </c:pt>
                <c:pt idx="2">
                  <c:v>63.96</c:v>
                </c:pt>
                <c:pt idx="3">
                  <c:v>58.56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83DC-4800-9622-4DF87D5B0374}"/>
            </c:ext>
          </c:extLst>
        </c:ser>
        <c:ser>
          <c:idx val="12"/>
          <c:order val="12"/>
          <c:tx>
            <c:strRef>
              <c:f>Sheet1!$A$14</c:f>
              <c:strCache>
                <c:ptCount val="1"/>
                <c:pt idx="0">
                  <c:v>qwen3_1.7b-fp16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comet</c:v>
                </c:pt>
                <c:pt idx="1">
                  <c:v>BLEU</c:v>
                </c:pt>
                <c:pt idx="2">
                  <c:v>chrF2</c:v>
                </c:pt>
                <c:pt idx="3">
                  <c:v>TER</c:v>
                </c:pt>
              </c:strCache>
            </c:strRef>
          </c:cat>
          <c:val>
            <c:numRef>
              <c:f>Sheet1!$B$14:$E$14</c:f>
              <c:numCache>
                <c:formatCode>General</c:formatCode>
                <c:ptCount val="4"/>
                <c:pt idx="0">
                  <c:v>87.31</c:v>
                </c:pt>
                <c:pt idx="1">
                  <c:v>35.22</c:v>
                </c:pt>
                <c:pt idx="2">
                  <c:v>62.33</c:v>
                </c:pt>
                <c:pt idx="3">
                  <c:v>59.98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3DC-4800-9622-4DF87D5B0374}"/>
            </c:ext>
          </c:extLst>
        </c:ser>
        <c:ser>
          <c:idx val="13"/>
          <c:order val="13"/>
          <c:tx>
            <c:strRef>
              <c:f>Sheet1!$A$15</c:f>
              <c:strCache>
                <c:ptCount val="1"/>
                <c:pt idx="0">
                  <c:v>human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comet</c:v>
                </c:pt>
                <c:pt idx="1">
                  <c:v>BLEU</c:v>
                </c:pt>
                <c:pt idx="2">
                  <c:v>chrF2</c:v>
                </c:pt>
                <c:pt idx="3">
                  <c:v>TER</c:v>
                </c:pt>
              </c:strCache>
            </c:strRef>
          </c:cat>
          <c:val>
            <c:numRef>
              <c:f>Sheet1!$B$15:$E$15</c:f>
              <c:numCache>
                <c:formatCode>General</c:formatCode>
                <c:ptCount val="4"/>
                <c:pt idx="0">
                  <c:v>84.5</c:v>
                </c:pt>
                <c:pt idx="1">
                  <c:v>27.97</c:v>
                </c:pt>
                <c:pt idx="2">
                  <c:v>52.94</c:v>
                </c:pt>
                <c:pt idx="3">
                  <c:v>69.33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3DC-4800-9622-4DF87D5B0374}"/>
            </c:ext>
          </c:extLst>
        </c:ser>
        <c:ser>
          <c:idx val="14"/>
          <c:order val="14"/>
          <c:tx>
            <c:strRef>
              <c:f>Sheet1!$A$16</c:f>
              <c:strCache>
                <c:ptCount val="1"/>
                <c:pt idx="0">
                  <c:v> llama3.2_1b-instruct-fp16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comet</c:v>
                </c:pt>
                <c:pt idx="1">
                  <c:v>BLEU</c:v>
                </c:pt>
                <c:pt idx="2">
                  <c:v>chrF2</c:v>
                </c:pt>
                <c:pt idx="3">
                  <c:v>TER</c:v>
                </c:pt>
              </c:strCache>
            </c:strRef>
          </c:cat>
          <c:val>
            <c:numRef>
              <c:f>Sheet1!$B$16:$E$16</c:f>
              <c:numCache>
                <c:formatCode>General</c:formatCode>
                <c:ptCount val="4"/>
                <c:pt idx="0">
                  <c:v>74.05</c:v>
                </c:pt>
                <c:pt idx="1">
                  <c:v>15.52</c:v>
                </c:pt>
                <c:pt idx="2">
                  <c:v>42.75</c:v>
                </c:pt>
                <c:pt idx="3">
                  <c:v>89.56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3DC-4800-9622-4DF87D5B03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27777487"/>
        <c:axId val="827775087"/>
      </c:barChart>
      <c:catAx>
        <c:axId val="827777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7775087"/>
        <c:crosses val="autoZero"/>
        <c:auto val="1"/>
        <c:lblAlgn val="ctr"/>
        <c:lblOffset val="100"/>
        <c:noMultiLvlLbl val="0"/>
      </c:catAx>
      <c:valAx>
        <c:axId val="827775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77774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 dirty="0"/>
          </a:p>
          <a:p>
            <a:pPr>
              <a:defRPr/>
            </a:pP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420043117765595"/>
          <c:y val="0.18385069754972352"/>
          <c:w val="0.80817873310324539"/>
          <c:h val="0.3322460610597057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comet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deepseek</c:v>
                </c:pt>
                <c:pt idx="1">
                  <c:v> claude</c:v>
                </c:pt>
                <c:pt idx="2">
                  <c:v>gpt-oss_120b</c:v>
                </c:pt>
                <c:pt idx="3">
                  <c:v>gpt-oss_20b</c:v>
                </c:pt>
                <c:pt idx="4">
                  <c:v> gpt5</c:v>
                </c:pt>
                <c:pt idx="5">
                  <c:v>gemma3_27b-it-fp16</c:v>
                </c:pt>
                <c:pt idx="6">
                  <c:v>google</c:v>
                </c:pt>
                <c:pt idx="7">
                  <c:v>llama3.3_70b-instruct-fp16</c:v>
                </c:pt>
                <c:pt idx="8">
                  <c:v> qwen3_8b-fp16</c:v>
                </c:pt>
                <c:pt idx="9">
                  <c:v>aya_35b-23-q8_0</c:v>
                </c:pt>
                <c:pt idx="10">
                  <c:v>modernmt</c:v>
                </c:pt>
                <c:pt idx="11">
                  <c:v>llama3.1_8b-instruct-fp16</c:v>
                </c:pt>
                <c:pt idx="12">
                  <c:v>qwen3_1.7b-fp16</c:v>
                </c:pt>
                <c:pt idx="13">
                  <c:v>human</c:v>
                </c:pt>
                <c:pt idx="14">
                  <c:v> llama3.2_1b-instruct-fp16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91.28</c:v>
                </c:pt>
                <c:pt idx="1">
                  <c:v>90.79</c:v>
                </c:pt>
                <c:pt idx="2">
                  <c:v>90.37</c:v>
                </c:pt>
                <c:pt idx="3">
                  <c:v>90.31</c:v>
                </c:pt>
                <c:pt idx="4">
                  <c:v>90.31</c:v>
                </c:pt>
                <c:pt idx="5">
                  <c:v>90.3</c:v>
                </c:pt>
                <c:pt idx="6">
                  <c:v>90.24</c:v>
                </c:pt>
                <c:pt idx="7">
                  <c:v>89.92</c:v>
                </c:pt>
                <c:pt idx="8">
                  <c:v>89.87</c:v>
                </c:pt>
                <c:pt idx="9">
                  <c:v>89.14</c:v>
                </c:pt>
                <c:pt idx="10">
                  <c:v>87.9</c:v>
                </c:pt>
                <c:pt idx="11">
                  <c:v>87.62</c:v>
                </c:pt>
                <c:pt idx="12">
                  <c:v>87.31</c:v>
                </c:pt>
                <c:pt idx="13">
                  <c:v>84.5</c:v>
                </c:pt>
                <c:pt idx="14">
                  <c:v>74.05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C2B-47F4-9597-575D56E184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BLEU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deepseek</c:v>
                </c:pt>
                <c:pt idx="1">
                  <c:v> claude</c:v>
                </c:pt>
                <c:pt idx="2">
                  <c:v>gpt-oss_120b</c:v>
                </c:pt>
                <c:pt idx="3">
                  <c:v>gpt-oss_20b</c:v>
                </c:pt>
                <c:pt idx="4">
                  <c:v> gpt5</c:v>
                </c:pt>
                <c:pt idx="5">
                  <c:v>gemma3_27b-it-fp16</c:v>
                </c:pt>
                <c:pt idx="6">
                  <c:v>google</c:v>
                </c:pt>
                <c:pt idx="7">
                  <c:v>llama3.3_70b-instruct-fp16</c:v>
                </c:pt>
                <c:pt idx="8">
                  <c:v> qwen3_8b-fp16</c:v>
                </c:pt>
                <c:pt idx="9">
                  <c:v>aya_35b-23-q8_0</c:v>
                </c:pt>
                <c:pt idx="10">
                  <c:v>modernmt</c:v>
                </c:pt>
                <c:pt idx="11">
                  <c:v>llama3.1_8b-instruct-fp16</c:v>
                </c:pt>
                <c:pt idx="12">
                  <c:v>qwen3_1.7b-fp16</c:v>
                </c:pt>
                <c:pt idx="13">
                  <c:v>human</c:v>
                </c:pt>
                <c:pt idx="14">
                  <c:v> llama3.2_1b-instruct-fp16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58.38</c:v>
                </c:pt>
                <c:pt idx="1">
                  <c:v>54.89</c:v>
                </c:pt>
                <c:pt idx="2">
                  <c:v>47.8</c:v>
                </c:pt>
                <c:pt idx="3">
                  <c:v>47.19</c:v>
                </c:pt>
                <c:pt idx="4">
                  <c:v>50.44</c:v>
                </c:pt>
                <c:pt idx="5">
                  <c:v>49.12</c:v>
                </c:pt>
                <c:pt idx="6">
                  <c:v>52.88</c:v>
                </c:pt>
                <c:pt idx="7">
                  <c:v>46.18</c:v>
                </c:pt>
                <c:pt idx="8">
                  <c:v>45.55</c:v>
                </c:pt>
                <c:pt idx="9">
                  <c:v>43.99</c:v>
                </c:pt>
                <c:pt idx="10">
                  <c:v>39.15</c:v>
                </c:pt>
                <c:pt idx="11">
                  <c:v>37.5</c:v>
                </c:pt>
                <c:pt idx="12">
                  <c:v>35.22</c:v>
                </c:pt>
                <c:pt idx="13">
                  <c:v>27.97</c:v>
                </c:pt>
                <c:pt idx="14">
                  <c:v>15.52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C2B-47F4-9597-575D56E184A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chrF2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deepseek</c:v>
                </c:pt>
                <c:pt idx="1">
                  <c:v> claude</c:v>
                </c:pt>
                <c:pt idx="2">
                  <c:v>gpt-oss_120b</c:v>
                </c:pt>
                <c:pt idx="3">
                  <c:v>gpt-oss_20b</c:v>
                </c:pt>
                <c:pt idx="4">
                  <c:v> gpt5</c:v>
                </c:pt>
                <c:pt idx="5">
                  <c:v>gemma3_27b-it-fp16</c:v>
                </c:pt>
                <c:pt idx="6">
                  <c:v>google</c:v>
                </c:pt>
                <c:pt idx="7">
                  <c:v>llama3.3_70b-instruct-fp16</c:v>
                </c:pt>
                <c:pt idx="8">
                  <c:v> qwen3_8b-fp16</c:v>
                </c:pt>
                <c:pt idx="9">
                  <c:v>aya_35b-23-q8_0</c:v>
                </c:pt>
                <c:pt idx="10">
                  <c:v>modernmt</c:v>
                </c:pt>
                <c:pt idx="11">
                  <c:v>llama3.1_8b-instruct-fp16</c:v>
                </c:pt>
                <c:pt idx="12">
                  <c:v>qwen3_1.7b-fp16</c:v>
                </c:pt>
                <c:pt idx="13">
                  <c:v>human</c:v>
                </c:pt>
                <c:pt idx="14">
                  <c:v> llama3.2_1b-instruct-fp16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76.58</c:v>
                </c:pt>
                <c:pt idx="1">
                  <c:v>74.459999999999994</c:v>
                </c:pt>
                <c:pt idx="2">
                  <c:v>71.3</c:v>
                </c:pt>
                <c:pt idx="3">
                  <c:v>71.239999999999995</c:v>
                </c:pt>
                <c:pt idx="4">
                  <c:v>72.5</c:v>
                </c:pt>
                <c:pt idx="5">
                  <c:v>72.040000000000006</c:v>
                </c:pt>
                <c:pt idx="6">
                  <c:v>72.38</c:v>
                </c:pt>
                <c:pt idx="7">
                  <c:v>70.099999999999994</c:v>
                </c:pt>
                <c:pt idx="8">
                  <c:v>70.03</c:v>
                </c:pt>
                <c:pt idx="9">
                  <c:v>67.58</c:v>
                </c:pt>
                <c:pt idx="10">
                  <c:v>63.29</c:v>
                </c:pt>
                <c:pt idx="11">
                  <c:v>63.96</c:v>
                </c:pt>
                <c:pt idx="12">
                  <c:v>62.33</c:v>
                </c:pt>
                <c:pt idx="13">
                  <c:v>52.94</c:v>
                </c:pt>
                <c:pt idx="14">
                  <c:v>42.75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C2B-47F4-9597-575D56E184A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TER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deepseek</c:v>
                </c:pt>
                <c:pt idx="1">
                  <c:v> claude</c:v>
                </c:pt>
                <c:pt idx="2">
                  <c:v>gpt-oss_120b</c:v>
                </c:pt>
                <c:pt idx="3">
                  <c:v>gpt-oss_20b</c:v>
                </c:pt>
                <c:pt idx="4">
                  <c:v> gpt5</c:v>
                </c:pt>
                <c:pt idx="5">
                  <c:v>gemma3_27b-it-fp16</c:v>
                </c:pt>
                <c:pt idx="6">
                  <c:v>google</c:v>
                </c:pt>
                <c:pt idx="7">
                  <c:v>llama3.3_70b-instruct-fp16</c:v>
                </c:pt>
                <c:pt idx="8">
                  <c:v> qwen3_8b-fp16</c:v>
                </c:pt>
                <c:pt idx="9">
                  <c:v>aya_35b-23-q8_0</c:v>
                </c:pt>
                <c:pt idx="10">
                  <c:v>modernmt</c:v>
                </c:pt>
                <c:pt idx="11">
                  <c:v>llama3.1_8b-instruct-fp16</c:v>
                </c:pt>
                <c:pt idx="12">
                  <c:v>qwen3_1.7b-fp16</c:v>
                </c:pt>
                <c:pt idx="13">
                  <c:v>human</c:v>
                </c:pt>
                <c:pt idx="14">
                  <c:v> llama3.2_1b-instruct-fp16</c:v>
                </c:pt>
              </c:strCache>
            </c: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34.36</c:v>
                </c:pt>
                <c:pt idx="1">
                  <c:v>37.020000000000003</c:v>
                </c:pt>
                <c:pt idx="2">
                  <c:v>43.9</c:v>
                </c:pt>
                <c:pt idx="3">
                  <c:v>44.98</c:v>
                </c:pt>
                <c:pt idx="4">
                  <c:v>39.04</c:v>
                </c:pt>
                <c:pt idx="5">
                  <c:v>44.61</c:v>
                </c:pt>
                <c:pt idx="6">
                  <c:v>39.700000000000003</c:v>
                </c:pt>
                <c:pt idx="7">
                  <c:v>47.84</c:v>
                </c:pt>
                <c:pt idx="8">
                  <c:v>47.13</c:v>
                </c:pt>
                <c:pt idx="9">
                  <c:v>51.24</c:v>
                </c:pt>
                <c:pt idx="10">
                  <c:v>54.61</c:v>
                </c:pt>
                <c:pt idx="11">
                  <c:v>58.56</c:v>
                </c:pt>
                <c:pt idx="12">
                  <c:v>59.98</c:v>
                </c:pt>
                <c:pt idx="13">
                  <c:v>69.33</c:v>
                </c:pt>
                <c:pt idx="14">
                  <c:v>89.56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C2B-47F4-9597-575D56E184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28889168"/>
        <c:axId val="1128888688"/>
      </c:lineChart>
      <c:catAx>
        <c:axId val="1128889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8888688"/>
        <c:crosses val="autoZero"/>
        <c:auto val="1"/>
        <c:lblAlgn val="ctr"/>
        <c:lblOffset val="100"/>
        <c:noMultiLvlLbl val="0"/>
      </c:catAx>
      <c:valAx>
        <c:axId val="1128888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8889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0595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68DA0-0F9A-9F02-0457-7EF037FC3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4D4CA-821E-EEB9-1282-8ADA463893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ACB4B-B712-B7CD-B9E4-4C00F00CE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/>
              <a:t>The final, optimized prompt used for Austin was: "You are an expert translator, translating for an expert audience. Do not provide any annotations, explanations or transliterations in your translation. Please translate the following sentence to English:"</a:t>
            </a:r>
            <a:br>
              <a:rPr lang="en-US" dirty="0"/>
            </a:br>
            <a:r>
              <a:rPr lang="en-US" dirty="0"/>
              <a:t>MATEO successfully processed all systems in two separate runs, with SRC, REF, and the baseline system (</a:t>
            </a:r>
            <a:r>
              <a:rPr lang="en-US" dirty="0" err="1"/>
              <a:t>DeepL</a:t>
            </a:r>
            <a:r>
              <a:rPr lang="en-US" dirty="0"/>
              <a:t>) remaining consistent in the cache.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00C51-F5F6-27D8-851E-0F6B9DE5A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7049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FEE22-0194-EB37-83C9-EFE56DF2A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C1B81A-487C-4F55-F98D-8A846018F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284ED3-9CF3-6F1A-A322-AD0489363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63B78-76DC-EFC6-93A2-93A8D3423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22010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557B6-C40A-FA68-9255-4271DA1B4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49C12-9C53-771A-C62C-CA991022B7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85B47-B224-2EB2-3AF8-C4054030F4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430D8-41C9-F12C-371E-EA57BCD20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14885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707FC-BC14-2719-01ED-1262BF632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A7294-330B-7C91-94D5-67439974C6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5585F-AAED-8F8A-A7E1-6432F7FE24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9FDAA-D1A5-498C-E355-B3D03315C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98695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9B3C-7F8F-4BF8-B806-505DC7AE6D70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 Summit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9E19-DB18-4B2C-B84A-CD1A700DFD99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 Summit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C263-38F9-498F-81E0-D4E50474F056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 Summit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F5A71-6825-466F-BD8C-A416CE3DA966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 Summit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4D0A-CEBD-4F59-924B-245DCC8DA702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 Summit 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99B5B-A827-4853-B115-9889BAB3A65E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 Summit 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2D4F9-7C73-4BCC-B62C-F4AB4F819037}" type="datetime1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 Summit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AF4AD-BE83-4565-A76B-AC0EF11E2D10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 Summit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89AB-5868-4F38-B9BE-4DD15CEE01CB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 Summit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F188-D433-4B87-9C12-2EBA1B52074A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 Summit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61C8-ED73-4F2D-9603-BAFC6B4A8F39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 Summit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50D155-A9F4-4E05-946F-A049C7769896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MT Summit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8DE89-979E-43DE-07BD-21FD1C985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152827"/>
            <a:ext cx="4857428" cy="5686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dirty="0"/>
              <a:t>wh_mateo-eval_2903_3178_ko-en</a:t>
            </a:r>
          </a:p>
          <a:p>
            <a:pPr defTabSz="914400">
              <a:spcAft>
                <a:spcPts val="600"/>
              </a:spcAft>
            </a:pPr>
            <a:r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.pptx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FC70BC3-CF8F-C7EF-FD07-A7238DD621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7554576"/>
              </p:ext>
            </p:extLst>
          </p:nvPr>
        </p:nvGraphicFramePr>
        <p:xfrm>
          <a:off x="365760" y="365761"/>
          <a:ext cx="11205555" cy="55861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F37DD-F243-A1FB-A6B9-0ADC808F3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F04BC-E9EE-AA4C-B330-8FF877FED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nn-NO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wh_mateo-eval_2903_3178_ko-en.pptx</a:t>
            </a:r>
            <a:endParaRPr lang="en-US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6D9501-57B0-9F2F-6296-57A6681C6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898919"/>
              </p:ext>
            </p:extLst>
          </p:nvPr>
        </p:nvGraphicFramePr>
        <p:xfrm>
          <a:off x="643467" y="712922"/>
          <a:ext cx="10905069" cy="52384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8967">
                  <a:extLst>
                    <a:ext uri="{9D8B030D-6E8A-4147-A177-3AD203B41FA5}">
                      <a16:colId xmlns:a16="http://schemas.microsoft.com/office/drawing/2014/main" val="3407724239"/>
                    </a:ext>
                  </a:extLst>
                </a:gridCol>
                <a:gridCol w="2022896">
                  <a:extLst>
                    <a:ext uri="{9D8B030D-6E8A-4147-A177-3AD203B41FA5}">
                      <a16:colId xmlns:a16="http://schemas.microsoft.com/office/drawing/2014/main" val="3272336910"/>
                    </a:ext>
                  </a:extLst>
                </a:gridCol>
                <a:gridCol w="1909548">
                  <a:extLst>
                    <a:ext uri="{9D8B030D-6E8A-4147-A177-3AD203B41FA5}">
                      <a16:colId xmlns:a16="http://schemas.microsoft.com/office/drawing/2014/main" val="2301476018"/>
                    </a:ext>
                  </a:extLst>
                </a:gridCol>
                <a:gridCol w="1950029">
                  <a:extLst>
                    <a:ext uri="{9D8B030D-6E8A-4147-A177-3AD203B41FA5}">
                      <a16:colId xmlns:a16="http://schemas.microsoft.com/office/drawing/2014/main" val="4245466584"/>
                    </a:ext>
                  </a:extLst>
                </a:gridCol>
                <a:gridCol w="2713629">
                  <a:extLst>
                    <a:ext uri="{9D8B030D-6E8A-4147-A177-3AD203B41FA5}">
                      <a16:colId xmlns:a16="http://schemas.microsoft.com/office/drawing/2014/main" val="555501112"/>
                    </a:ext>
                  </a:extLst>
                </a:gridCol>
              </a:tblGrid>
              <a:tr h="32307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system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comet (</a:t>
                      </a:r>
                      <a:r>
                        <a:rPr lang="el-G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μ ± 95%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BLEU (</a:t>
                      </a:r>
                      <a:r>
                        <a:rPr lang="el-G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μ ± 95%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chrF2 (</a:t>
                      </a:r>
                      <a:r>
                        <a:rPr lang="el-G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μ ± 95%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TER (</a:t>
                      </a:r>
                      <a:r>
                        <a:rPr lang="el-G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μ ± 95%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CI)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338986761"/>
                  </a:ext>
                </a:extLst>
              </a:tr>
              <a:tr h="3237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deepseek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91.3 (91.3 ± 0.5) (p = 0.0010)*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58.4 (58.2 ± 2.8) (p = 0.0010)*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76.6 (76.5 ± 1.8) (p = 0.0010)*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34.4 (34.4 ± 2.6) (p = 0.0010)*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0643678"/>
                  </a:ext>
                </a:extLst>
              </a:tr>
              <a:tr h="3237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claude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90.8 (90.8 ± 0.6)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54.9 (54.8 ± 3.1)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74.5 (74.4 ± 1.9)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37.0 (37.1 ± 2.9)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72407901"/>
                  </a:ext>
                </a:extLst>
              </a:tr>
              <a:tr h="3237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gpt-oss_120b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90.4 (90.4 ± 0.6) (p = 0.0010)*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47.8 (47.7 ± 3.0) (p = 0.0010)*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71.3 (71.2 ± 2.0) (p = 0.0010)*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43.9 (44.0 ± 2.8) (p = 0.0010)*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66527200"/>
                  </a:ext>
                </a:extLst>
              </a:tr>
              <a:tr h="3237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gemma3_27b-it-fp16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90.3 (90.3 ± 0.6) (p = 0.3906)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49.1 (49.1 ± 3.1) (p = 0.1538)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72.0 (72.0 ± 2.1) (p = 0.2098)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44.6 (44.6 ± 3.2) (p = 0.0010)*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53987151"/>
                  </a:ext>
                </a:extLst>
              </a:tr>
              <a:tr h="3237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gpt-oss_20b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90.3 (90.3 ± 0.6) (p = 0.0010)*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47.2 (47.1 ± 3.1) (p = 0.0010)*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71.2 (71.2 ± 2.0) (p = 0.0010)*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45.0 (45.0 ± 3.0) (p = 0.0010)*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8839880"/>
                  </a:ext>
                </a:extLst>
              </a:tr>
              <a:tr h="3237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gpt5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90.3 (90.3 ± 0.5)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50.4 (50.4 ± 2.7)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72.5 (72.5 ± 1.8)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39.0 (39.0 ± 2.6)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3558704"/>
                  </a:ext>
                </a:extLst>
              </a:tr>
              <a:tr h="3237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google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90.2 (90.3 ± 0.8) (p = 0.3377)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52.9 (52.8 ± 3.4) (p = 0.0759)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72.4 (72.4 ± 2.2) (p = 0.3546)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39.7 (39.7 ± 3.1) (p = 0.2188)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96522905"/>
                  </a:ext>
                </a:extLst>
              </a:tr>
              <a:tr h="323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llama3.3_70b-instruct-fp16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89.9 (89.9 ± 0.6) (p = 0.2887)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46.2 (46.1 ± 3.2) (p = 0.2018)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70.1 (70.0 ± 2.1) (p = 0.3846)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47.8 (47.9 ± 3.4) (p = 0.2348)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16277556"/>
                  </a:ext>
                </a:extLst>
              </a:tr>
              <a:tr h="323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qwen3_8b-fp16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89.9 (89.9 ± 0.6)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45.5 (45.5 ± 3.0)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70.0 (70.0 ± 2.1)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47.1 (47.1 ± 3.3)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32420021"/>
                  </a:ext>
                </a:extLst>
              </a:tr>
              <a:tr h="3237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aya_35b-23-q8_0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89.1 (89.1 ± 0.6) (p = 0.0010)*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44.0 (43.9 ± 3.2) (p = 0.0010)*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67.6 (67.5 ± 2.1) (p = 0.0010)*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51.2 (51.3 ± 3.4) (p = 0.0010)*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2571980"/>
                  </a:ext>
                </a:extLst>
              </a:tr>
              <a:tr h="323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modernmt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87.9 (87.9 ± 0.7) (p = 0.0010)*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39.2 (39.0 ± 3.3) (p = 0.0010)*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63.3 (63.2 ± 2.2) (p = 0.0010)*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54.6 (54.6 ± 3.5) (p = 0.0010)*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59509435"/>
                  </a:ext>
                </a:extLst>
              </a:tr>
              <a:tr h="3237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llama3.1_8b-instruct-fp16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87.6 (87.6 ± 0.9) (p = 0.0010)*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37.5 (37.5 ± 2.9) (p = 0.0010)*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64.0 (64.0 ± 2.1) (p = 0.0010)*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58.6 (58.5 ± 3.6) (p = 0.0010)*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5001462"/>
                  </a:ext>
                </a:extLst>
              </a:tr>
              <a:tr h="323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qwen3_1.7b-fp16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87.3 (87.3 ± 0.7) (p = 0.0010)*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35.2 (35.2 ± 3.0) (p = 0.0010)*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62.3 (62.3 ± 2.1) (p = 0.0010)*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60.0 (59.9 ± 3.1) (p = 0.0010)*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24341540"/>
                  </a:ext>
                </a:extLst>
              </a:tr>
              <a:tr h="323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human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84.5 (84.5 ± 1.0)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28.0 (27.9 ± 3.6)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52.9 (52.9 ± 2.7)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69.3 (69.4 ± 3.3)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4925681"/>
                  </a:ext>
                </a:extLst>
              </a:tr>
              <a:tr h="3825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llama3.2_1b-instruct-fp16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74.1 (74.1 ± 1.8)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15.5 (15.4 ± 2.2)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42.7 (42.7 ± 2.5)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89.6 (89.6 ± 3.8)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2205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991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1B1C3-DDDE-796A-69B4-AAD3B5864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972DC-29BB-8EF8-0DED-65317C5B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nn-NO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wh_mateo-eval_2903_3178_ko-en.pptx</a:t>
            </a:r>
            <a:endParaRPr lang="en-US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7AEFE8-D55F-B62B-44A1-793E67ABC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525675"/>
              </p:ext>
            </p:extLst>
          </p:nvPr>
        </p:nvGraphicFramePr>
        <p:xfrm>
          <a:off x="3238257" y="195150"/>
          <a:ext cx="5497317" cy="8500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6859">
                  <a:extLst>
                    <a:ext uri="{9D8B030D-6E8A-4147-A177-3AD203B41FA5}">
                      <a16:colId xmlns:a16="http://schemas.microsoft.com/office/drawing/2014/main" val="1755563638"/>
                    </a:ext>
                  </a:extLst>
                </a:gridCol>
                <a:gridCol w="806946">
                  <a:extLst>
                    <a:ext uri="{9D8B030D-6E8A-4147-A177-3AD203B41FA5}">
                      <a16:colId xmlns:a16="http://schemas.microsoft.com/office/drawing/2014/main" val="3823890511"/>
                    </a:ext>
                  </a:extLst>
                </a:gridCol>
                <a:gridCol w="353038">
                  <a:extLst>
                    <a:ext uri="{9D8B030D-6E8A-4147-A177-3AD203B41FA5}">
                      <a16:colId xmlns:a16="http://schemas.microsoft.com/office/drawing/2014/main" val="1319449441"/>
                    </a:ext>
                  </a:extLst>
                </a:gridCol>
                <a:gridCol w="796859">
                  <a:extLst>
                    <a:ext uri="{9D8B030D-6E8A-4147-A177-3AD203B41FA5}">
                      <a16:colId xmlns:a16="http://schemas.microsoft.com/office/drawing/2014/main" val="1345286074"/>
                    </a:ext>
                  </a:extLst>
                </a:gridCol>
                <a:gridCol w="796859">
                  <a:extLst>
                    <a:ext uri="{9D8B030D-6E8A-4147-A177-3AD203B41FA5}">
                      <a16:colId xmlns:a16="http://schemas.microsoft.com/office/drawing/2014/main" val="1129418483"/>
                    </a:ext>
                  </a:extLst>
                </a:gridCol>
                <a:gridCol w="353038">
                  <a:extLst>
                    <a:ext uri="{9D8B030D-6E8A-4147-A177-3AD203B41FA5}">
                      <a16:colId xmlns:a16="http://schemas.microsoft.com/office/drawing/2014/main" val="4212731942"/>
                    </a:ext>
                  </a:extLst>
                </a:gridCol>
                <a:gridCol w="796859">
                  <a:extLst>
                    <a:ext uri="{9D8B030D-6E8A-4147-A177-3AD203B41FA5}">
                      <a16:colId xmlns:a16="http://schemas.microsoft.com/office/drawing/2014/main" val="2421481155"/>
                    </a:ext>
                  </a:extLst>
                </a:gridCol>
                <a:gridCol w="796859">
                  <a:extLst>
                    <a:ext uri="{9D8B030D-6E8A-4147-A177-3AD203B41FA5}">
                      <a16:colId xmlns:a16="http://schemas.microsoft.com/office/drawing/2014/main" val="3140284636"/>
                    </a:ext>
                  </a:extLst>
                </a:gridCol>
              </a:tblGrid>
              <a:tr h="2833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COMET-BLEU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COMET-chrF2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BLEU-chrF2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9423"/>
                  </a:ext>
                </a:extLst>
              </a:tr>
              <a:tr h="2833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r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sym typeface="Symbol" panose="05050102010706020507" pitchFamily="18" charset="2"/>
                        </a:rPr>
                        <a:t>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r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sym typeface="Symbol" panose="05050102010706020507" pitchFamily="18" charset="2"/>
                        </a:rPr>
                        <a:t>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r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  <a:sym typeface="Symbol" panose="05050102010706020507" pitchFamily="18" charset="2"/>
                        </a:rPr>
                        <a:t>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320262474"/>
                  </a:ext>
                </a:extLst>
              </a:tr>
              <a:tr h="2833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0.92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0.94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0.95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0.95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0.98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0.98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585967112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78F6CE3-2A5C-22ED-A618-A276141131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7190143"/>
              </p:ext>
            </p:extLst>
          </p:nvPr>
        </p:nvGraphicFramePr>
        <p:xfrm>
          <a:off x="666427" y="1348352"/>
          <a:ext cx="10585342" cy="45255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42120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F7E5C-50A3-D0CF-CCBF-3F3FE549D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C982A-B96D-BAD2-A76D-B8C86D229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33635" y="6356351"/>
            <a:ext cx="7746191" cy="365125"/>
          </a:xfrm>
        </p:spPr>
        <p:txBody>
          <a:bodyPr/>
          <a:lstStyle/>
          <a:p>
            <a:r>
              <a:rPr lang="nn-NO" sz="2400" dirty="0"/>
              <a:t>wh_mateo-eval_2903_3178_ko-en.pptx</a:t>
            </a:r>
            <a:endParaRPr lang="en-US" sz="2400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8A7F82D-DFFE-DA69-ABB2-83890DAE1940}"/>
              </a:ext>
            </a:extLst>
          </p:cNvPr>
          <p:cNvSpPr txBox="1">
            <a:spLocks/>
          </p:cNvSpPr>
          <p:nvPr/>
        </p:nvSpPr>
        <p:spPr>
          <a:xfrm>
            <a:off x="4115284" y="538946"/>
            <a:ext cx="30800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b="1" dirty="0">
                <a:solidFill>
                  <a:schemeClr val="tx1"/>
                </a:solidFill>
              </a:rPr>
              <a:t>Google - Human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62D4BF0-5E7D-3606-1F81-6851AD804233}"/>
              </a:ext>
            </a:extLst>
          </p:cNvPr>
          <p:cNvSpPr txBox="1">
            <a:spLocks/>
          </p:cNvSpPr>
          <p:nvPr/>
        </p:nvSpPr>
        <p:spPr>
          <a:xfrm>
            <a:off x="3693757" y="2292793"/>
            <a:ext cx="42259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b="1" dirty="0">
                <a:solidFill>
                  <a:schemeClr val="tx1"/>
                </a:solidFill>
              </a:rPr>
              <a:t>DeepSeekV3 – Claude </a:t>
            </a:r>
            <a:r>
              <a:rPr lang="es-ES" sz="1800" b="1" dirty="0" err="1">
                <a:solidFill>
                  <a:schemeClr val="tx1"/>
                </a:solidFill>
              </a:rPr>
              <a:t>Sonnet</a:t>
            </a:r>
            <a:r>
              <a:rPr lang="es-ES" sz="1800" b="1" dirty="0">
                <a:solidFill>
                  <a:schemeClr val="tx1"/>
                </a:solidFill>
              </a:rPr>
              <a:t> 3.5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F4C316A2-CEA8-BD23-C0B2-8F47CDA372AC}"/>
              </a:ext>
            </a:extLst>
          </p:cNvPr>
          <p:cNvSpPr txBox="1">
            <a:spLocks/>
          </p:cNvSpPr>
          <p:nvPr/>
        </p:nvSpPr>
        <p:spPr>
          <a:xfrm>
            <a:off x="3793064" y="4454399"/>
            <a:ext cx="42259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b="1" dirty="0">
                <a:solidFill>
                  <a:schemeClr val="tx1"/>
                </a:solidFill>
              </a:rPr>
              <a:t>gpt-oss_120b </a:t>
            </a:r>
            <a:r>
              <a:rPr lang="es-ES" sz="1800" b="1" dirty="0">
                <a:solidFill>
                  <a:schemeClr val="tx1"/>
                </a:solidFill>
                <a:sym typeface="Symbol" panose="05050102010706020507" pitchFamily="18" charset="2"/>
              </a:rPr>
              <a:t></a:t>
            </a:r>
            <a:r>
              <a:rPr lang="es-ES" sz="1800" b="1" dirty="0">
                <a:solidFill>
                  <a:schemeClr val="tx1"/>
                </a:solidFill>
              </a:rPr>
              <a:t> qwen3_1.7b-fp16</a:t>
            </a:r>
            <a:endParaRPr lang="en-US" sz="1800" b="1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B0CDF9-1883-7A39-B9C0-1F997B25C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222370"/>
              </p:ext>
            </p:extLst>
          </p:nvPr>
        </p:nvGraphicFramePr>
        <p:xfrm>
          <a:off x="696366" y="847176"/>
          <a:ext cx="11228931" cy="1376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4133">
                  <a:extLst>
                    <a:ext uri="{9D8B030D-6E8A-4147-A177-3AD203B41FA5}">
                      <a16:colId xmlns:a16="http://schemas.microsoft.com/office/drawing/2014/main" val="4251360783"/>
                    </a:ext>
                  </a:extLst>
                </a:gridCol>
                <a:gridCol w="1604133">
                  <a:extLst>
                    <a:ext uri="{9D8B030D-6E8A-4147-A177-3AD203B41FA5}">
                      <a16:colId xmlns:a16="http://schemas.microsoft.com/office/drawing/2014/main" val="2310778350"/>
                    </a:ext>
                  </a:extLst>
                </a:gridCol>
                <a:gridCol w="1604133">
                  <a:extLst>
                    <a:ext uri="{9D8B030D-6E8A-4147-A177-3AD203B41FA5}">
                      <a16:colId xmlns:a16="http://schemas.microsoft.com/office/drawing/2014/main" val="2592666999"/>
                    </a:ext>
                  </a:extLst>
                </a:gridCol>
                <a:gridCol w="1604133">
                  <a:extLst>
                    <a:ext uri="{9D8B030D-6E8A-4147-A177-3AD203B41FA5}">
                      <a16:colId xmlns:a16="http://schemas.microsoft.com/office/drawing/2014/main" val="280124399"/>
                    </a:ext>
                  </a:extLst>
                </a:gridCol>
                <a:gridCol w="1604133">
                  <a:extLst>
                    <a:ext uri="{9D8B030D-6E8A-4147-A177-3AD203B41FA5}">
                      <a16:colId xmlns:a16="http://schemas.microsoft.com/office/drawing/2014/main" val="2847146680"/>
                    </a:ext>
                  </a:extLst>
                </a:gridCol>
                <a:gridCol w="1604133">
                  <a:extLst>
                    <a:ext uri="{9D8B030D-6E8A-4147-A177-3AD203B41FA5}">
                      <a16:colId xmlns:a16="http://schemas.microsoft.com/office/drawing/2014/main" val="1869628615"/>
                    </a:ext>
                  </a:extLst>
                </a:gridCol>
                <a:gridCol w="1604133">
                  <a:extLst>
                    <a:ext uri="{9D8B030D-6E8A-4147-A177-3AD203B41FA5}">
                      <a16:colId xmlns:a16="http://schemas.microsoft.com/office/drawing/2014/main" val="1497916383"/>
                    </a:ext>
                  </a:extLst>
                </a:gridCol>
              </a:tblGrid>
              <a:tr h="13761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몸통 및 사지가 완전마비 상태입니다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Complete paralysis of the trunk and limbs.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Injuries can also be caused by congenital or acquired diseases, tumors, electric shock, or oxygen loss following surgery or underwater accidents.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51.90085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paralysis of the trunk and all extremities.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90.65385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-38.75</a:t>
                      </a:r>
                    </a:p>
                  </a:txBody>
                  <a:tcPr marL="7132" marR="7132" marT="7132" marB="0" anchor="b"/>
                </a:tc>
                <a:extLst>
                  <a:ext uri="{0D108BD9-81ED-4DB2-BD59-A6C34878D82A}">
                    <a16:rowId xmlns:a16="http://schemas.microsoft.com/office/drawing/2014/main" val="127820339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30EBB2-7C7F-E17E-A5FE-E0E6BF62A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380685"/>
              </p:ext>
            </p:extLst>
          </p:nvPr>
        </p:nvGraphicFramePr>
        <p:xfrm>
          <a:off x="800100" y="2838450"/>
          <a:ext cx="10657115" cy="13839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2445">
                  <a:extLst>
                    <a:ext uri="{9D8B030D-6E8A-4147-A177-3AD203B41FA5}">
                      <a16:colId xmlns:a16="http://schemas.microsoft.com/office/drawing/2014/main" val="1625757940"/>
                    </a:ext>
                  </a:extLst>
                </a:gridCol>
                <a:gridCol w="1522445">
                  <a:extLst>
                    <a:ext uri="{9D8B030D-6E8A-4147-A177-3AD203B41FA5}">
                      <a16:colId xmlns:a16="http://schemas.microsoft.com/office/drawing/2014/main" val="817220976"/>
                    </a:ext>
                  </a:extLst>
                </a:gridCol>
                <a:gridCol w="1522445">
                  <a:extLst>
                    <a:ext uri="{9D8B030D-6E8A-4147-A177-3AD203B41FA5}">
                      <a16:colId xmlns:a16="http://schemas.microsoft.com/office/drawing/2014/main" val="2198713063"/>
                    </a:ext>
                  </a:extLst>
                </a:gridCol>
                <a:gridCol w="1522445">
                  <a:extLst>
                    <a:ext uri="{9D8B030D-6E8A-4147-A177-3AD203B41FA5}">
                      <a16:colId xmlns:a16="http://schemas.microsoft.com/office/drawing/2014/main" val="2625204570"/>
                    </a:ext>
                  </a:extLst>
                </a:gridCol>
                <a:gridCol w="1522445">
                  <a:extLst>
                    <a:ext uri="{9D8B030D-6E8A-4147-A177-3AD203B41FA5}">
                      <a16:colId xmlns:a16="http://schemas.microsoft.com/office/drawing/2014/main" val="77442715"/>
                    </a:ext>
                  </a:extLst>
                </a:gridCol>
                <a:gridCol w="1367106">
                  <a:extLst>
                    <a:ext uri="{9D8B030D-6E8A-4147-A177-3AD203B41FA5}">
                      <a16:colId xmlns:a16="http://schemas.microsoft.com/office/drawing/2014/main" val="902628151"/>
                    </a:ext>
                  </a:extLst>
                </a:gridCol>
                <a:gridCol w="1677784">
                  <a:extLst>
                    <a:ext uri="{9D8B030D-6E8A-4147-A177-3AD203B41FA5}">
                      <a16:colId xmlns:a16="http://schemas.microsoft.com/office/drawing/2014/main" val="2351614059"/>
                    </a:ext>
                  </a:extLst>
                </a:gridCol>
              </a:tblGrid>
              <a:tr h="13839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응급실에서부터 착용하면 됩니다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 can be applied starting in the emergency room.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 it can be applied starting in the emergency room.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92.6623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that can be worn from the emergency room.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63.35074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29.31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9872936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84C9D9-D0FD-D52D-D122-4277BEF1B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336937"/>
              </p:ext>
            </p:extLst>
          </p:nvPr>
        </p:nvGraphicFramePr>
        <p:xfrm>
          <a:off x="577478" y="4888961"/>
          <a:ext cx="10657115" cy="1381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2445">
                  <a:extLst>
                    <a:ext uri="{9D8B030D-6E8A-4147-A177-3AD203B41FA5}">
                      <a16:colId xmlns:a16="http://schemas.microsoft.com/office/drawing/2014/main" val="3352289202"/>
                    </a:ext>
                  </a:extLst>
                </a:gridCol>
                <a:gridCol w="1522445">
                  <a:extLst>
                    <a:ext uri="{9D8B030D-6E8A-4147-A177-3AD203B41FA5}">
                      <a16:colId xmlns:a16="http://schemas.microsoft.com/office/drawing/2014/main" val="2224495654"/>
                    </a:ext>
                  </a:extLst>
                </a:gridCol>
                <a:gridCol w="1522445">
                  <a:extLst>
                    <a:ext uri="{9D8B030D-6E8A-4147-A177-3AD203B41FA5}">
                      <a16:colId xmlns:a16="http://schemas.microsoft.com/office/drawing/2014/main" val="2011030101"/>
                    </a:ext>
                  </a:extLst>
                </a:gridCol>
                <a:gridCol w="1522445">
                  <a:extLst>
                    <a:ext uri="{9D8B030D-6E8A-4147-A177-3AD203B41FA5}">
                      <a16:colId xmlns:a16="http://schemas.microsoft.com/office/drawing/2014/main" val="1834958368"/>
                    </a:ext>
                  </a:extLst>
                </a:gridCol>
                <a:gridCol w="1522445">
                  <a:extLst>
                    <a:ext uri="{9D8B030D-6E8A-4147-A177-3AD203B41FA5}">
                      <a16:colId xmlns:a16="http://schemas.microsoft.com/office/drawing/2014/main" val="1875720123"/>
                    </a:ext>
                  </a:extLst>
                </a:gridCol>
                <a:gridCol w="1522445">
                  <a:extLst>
                    <a:ext uri="{9D8B030D-6E8A-4147-A177-3AD203B41FA5}">
                      <a16:colId xmlns:a16="http://schemas.microsoft.com/office/drawing/2014/main" val="1808067951"/>
                    </a:ext>
                  </a:extLst>
                </a:gridCol>
                <a:gridCol w="1522445">
                  <a:extLst>
                    <a:ext uri="{9D8B030D-6E8A-4147-A177-3AD203B41FA5}">
                      <a16:colId xmlns:a16="http://schemas.microsoft.com/office/drawing/2014/main" val="3268745432"/>
                    </a:ext>
                  </a:extLst>
                </a:gridCol>
              </a:tblGrid>
              <a:tr h="13761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가사 생활에 극히 일부의 도움만 필요로 합니다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Only minimal assistance is required for household tasks.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Only a little help is needed in my music life.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61.02104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Only a very small amount of assistance is needed in daily household life.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86.59628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25.58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5659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160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5BE12-B64A-F237-7016-7E4CCA33A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3304E-D2DB-DF0B-EAE8-041584B57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33635" y="6356351"/>
            <a:ext cx="7746191" cy="365125"/>
          </a:xfrm>
        </p:spPr>
        <p:txBody>
          <a:bodyPr/>
          <a:lstStyle/>
          <a:p>
            <a:r>
              <a:rPr lang="nn-NO" sz="2400" dirty="0"/>
              <a:t>wh_mateo-eval_2903_3178_ko-en.pptx</a:t>
            </a:r>
            <a:endParaRPr lang="en-US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6E978B-9FE2-086C-7F4B-47B1C9CBD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27922"/>
              </p:ext>
            </p:extLst>
          </p:nvPr>
        </p:nvGraphicFramePr>
        <p:xfrm>
          <a:off x="429593" y="294468"/>
          <a:ext cx="11068050" cy="58947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1150">
                  <a:extLst>
                    <a:ext uri="{9D8B030D-6E8A-4147-A177-3AD203B41FA5}">
                      <a16:colId xmlns:a16="http://schemas.microsoft.com/office/drawing/2014/main" val="850252896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908901553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803220193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387316047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3262868822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62934374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568790006"/>
                    </a:ext>
                  </a:extLst>
                </a:gridCol>
              </a:tblGrid>
              <a:tr h="8140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src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6" marR="3506" marT="3506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ref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6" marR="3506" marT="3506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holden_william_2903-3178_en_deepl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6" marR="3506" marT="3506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holden_william_2903-3178_en_deepl_score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6" marR="3506" marT="3506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holden_william_2903-3178_en_qwen3_1.7b-fp16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6" marR="3506" marT="3506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da-DK" sz="1400" u="none" strike="noStrike">
                          <a:effectLst/>
                        </a:rPr>
                        <a:t>holden_william_2903-3178_en_qwen3_1.7b-fp16_score</a:t>
                      </a:r>
                      <a:endParaRPr lang="da-DK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6" marR="3506" marT="3506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Diff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06" marR="3506" marT="3506" marB="0"/>
                </a:tc>
                <a:extLst>
                  <a:ext uri="{0D108BD9-81ED-4DB2-BD59-A6C34878D82A}">
                    <a16:rowId xmlns:a16="http://schemas.microsoft.com/office/drawing/2014/main" val="351287362"/>
                  </a:ext>
                </a:extLst>
              </a:tr>
              <a:tr h="163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보험에 아예 가입하지 않았거나 가입금액이 부족하다고 보험 혜택을 전혀 받을 수 없는 것은 아닙니다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Being uninsured or underinsured does not mean there are no avenues to get health coverage.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 having insurance at all or having insufficient coverage does not mean you cannot receive any insurance benefits.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95.72064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 is not the case that either you never joined the insurance or couldn't afford the premium, which would mean you can't receive any insurance benefits.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76.06471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19.66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95026782"/>
                  </a:ext>
                </a:extLst>
              </a:tr>
              <a:tr h="9459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모금도 생각해 보시기 바랍니다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Fundraising is another option to consider.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Also consider fundraising.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95.30092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Please consider the funds as well.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73.4913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21.81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49257692"/>
                  </a:ext>
                </a:extLst>
              </a:tr>
              <a:tr h="6170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가사 생활에 극히 일부의 도움만 필요로 합니다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Minimal help needed in the home.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They require very minimal assistance in household life.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84.26278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Only a little help is needed in my music life.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61.02104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23.24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3143624"/>
                  </a:ext>
                </a:extLst>
              </a:tr>
              <a:tr h="10224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호흡 유지력이 약하고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가래를 해소하는 데 도움을 요할 수도 있습니다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 respiratory endurance; may need help clearing secretions.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Respiratory endurance is weak, and assistance may be needed to clear phlegm.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95.73483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Respiratory function is weak, and it may be helpful in relieving cough.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71.4456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24.29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4448787"/>
                  </a:ext>
                </a:extLst>
              </a:tr>
              <a:tr h="6170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응급실에서부터 착용하면 됩니다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 can be applied in the emergency room.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 it can be applied starting in the emergency room.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92.6623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From the emergency room, it can be worn.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58.22355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34.44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62582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9517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1179</Words>
  <Application>Microsoft Office PowerPoint</Application>
  <PresentationFormat>Widescreen</PresentationFormat>
  <Paragraphs>169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 Narrow</vt:lpstr>
      <vt:lpstr>Arial</vt:lpstr>
      <vt:lpstr>Calibri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2025-06-08T18:40:47Z</dcterms:created>
  <dcterms:modified xsi:type="dcterms:W3CDTF">2025-11-25T07:29:21Z</dcterms:modified>
  <cp:category/>
</cp:coreProperties>
</file>